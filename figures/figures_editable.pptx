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Figure 1</a:t>
            </a:r>
          </a:p>
        </p:txBody>
      </p:sp>
      <p:pic>
        <p:nvPicPr>
          <p:cNvPr id="3" name="Picture 2" descr="figure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5" y="640080"/>
            <a:ext cx="1033272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97880"/>
            <a:ext cx="110002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Conceptual framework. Baseline environmental hazard enters demand, provider acceptance, valuation, attribution, and reputation, while the pseudo-intervention never changes rainfall.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Figure 2</a:t>
            </a:r>
          </a:p>
        </p:txBody>
      </p:sp>
      <p:pic>
        <p:nvPicPr>
          <p:cNvPr id="3" name="Picture 2" descr="figure2_empirical_ha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093" y="640080"/>
            <a:ext cx="801676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97880"/>
            <a:ext cx="110002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Estimated seven-day rainfall hazards by preceding dry-spell duration and location in the 1991–2010 training period. The eight locations are pre-specified mechanism stress tests, not a representative global sample.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Figure 3</a:t>
            </a:r>
          </a:p>
        </p:txBody>
      </p:sp>
      <p:pic>
        <p:nvPicPr>
          <p:cNvPr id="3" name="Picture 2" descr="figure3_pseudo_event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093" y="640080"/>
            <a:ext cx="801676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97880"/>
            <a:ext cx="110002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Natural rainfall following fictional known-zero-effect stress tests in 2011–2020, shown as apparent success by prospective event-selection 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Figure 4</a:t>
            </a:r>
          </a:p>
        </p:txBody>
      </p:sp>
      <p:pic>
        <p:nvPicPr>
          <p:cNvPr id="3" name="Picture 2" descr="figure4_simulation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365" y="640080"/>
            <a:ext cx="435422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97880"/>
            <a:ext cx="110002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Sequential Monte Carlo model enrichment under M0–M5. M0–M1 shuffle rainfall outcomes within sampled years; M2–M5 retain observed local and seasonal ordering. Selective acceptance changes accepted-event composition and current apparent success. In M4–M5, past attributed outcomes accumulate in reputation stocks that create price premia and provider-price heterogeneity, while current success remains a natural-rainfall flow governed by current hazard. Mean price(success) minus price(failure) is negative in M4–M5. Error bars are 2.5th and 97.5th Monte Carlo percentiles, not confidence intervals for historical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Figure 5</a:t>
            </a:r>
          </a:p>
        </p:txBody>
      </p:sp>
      <p:pic>
        <p:nvPicPr>
          <p:cNvPr id="3" name="Picture 2" descr="figure5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32191"/>
            <a:ext cx="10908792" cy="358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97880"/>
            <a:ext cx="110002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Robustness. Apparent success across rainfall thresholds and windows, selected parameter sensitivity, and Monte Carlo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